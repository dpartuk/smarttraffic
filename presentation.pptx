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Walkability Perception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7AE60"/>
                </a:solidFill>
                <a:latin typeface="Calibri"/>
              </a:defRPr>
            </a:pPr>
            <a:r>
              <a:t>Measuring How Walkable Tel Aviv's Streets Feel</a:t>
            </a:r>
          </a:p>
          <a:p>
            <a:pPr algn="l">
              <a:defRPr sz="2200" b="0">
                <a:solidFill>
                  <a:srgbClr val="27AE60"/>
                </a:solidFill>
                <a:latin typeface="Calibri"/>
              </a:defRPr>
            </a:pPr>
            <a:r>
              <a:t>Using Municipal Open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Doron Peleg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Goal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What Makes a Street Feel Walkable?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Some streets invite you to walk. Others make you want to drive.</a:t>
            </a:r>
          </a:p>
          <a:p>
            <a:pPr>
              <a:spcAft>
                <a:spcPts val="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This "feeling" is called Visual Walkability Perception (VWP) —</a:t>
            </a:r>
          </a:p>
          <a:p>
            <a:pPr>
              <a:spcAft>
                <a:spcPts val="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it combines safety, comfort, liveliness, and accessibility into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 single impression of how pleasant a street is for pedestrians.</a:t>
            </a:r>
          </a:p>
          <a:p>
            <a:pPr>
              <a:spcAft>
                <a:spcPts val="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Traditional measurement requires expensive surveys or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street-level imagery analysis. We asked a different question: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Can a city's own operational data — business records, complaints,</a:t>
            </a:r>
          </a:p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demographics — tell us how walkable its streets are?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Base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Li et al. (2022) — Measuring Visual Walkability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How walkable a street looks matters for urban planning, health,</a:t>
            </a:r>
          </a:p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and property values — but measuring it at city scale is hard.</a:t>
            </a:r>
          </a:p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Surveys are expensive. Audits are subjective.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Calibri"/>
              </a:defRPr>
            </a:pPr>
            <a:r>
              <a:t>Their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Collected 2,642 panoramic street images from 7 world cities</a:t>
            </a:r>
          </a:p>
          <a:p>
            <a:pPr>
              <a:spcAft>
                <a:spcPts val="3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30 people rated them in VR headsets across 6 walkability dimensions</a:t>
            </a:r>
          </a:p>
          <a:p>
            <a:pPr>
              <a:spcAft>
                <a:spcPts val="3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Used AI (deep learning) to identify what makes streets look walkable</a:t>
            </a:r>
          </a:p>
          <a:p>
            <a:pPr>
              <a:spcAft>
                <a:spcPts val="3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Found that vegetation, sidewalks, and traffic signs matter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Key Result:  19 visual features explain 41–59% of walkability perception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Six Dimensions of Walkability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Walkability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Overall impression — does this street support walking?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Is there a reason to walk here? Shops, services, mixed land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Can you walk here? No barriers, dead ends, or missing sidewalks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80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Does it feel safe from crime and traffic?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Comfort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74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Is it pleasant? Wide sidewalks, shade, low 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Pleasurability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69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Is it enjoyable? Greenery, lively atmosphere, interesting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Based on Alfonzo's Hierarchy of Walking Needs (2005)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A Different Lens on Walkability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F8C8D"/>
                </a:solidFill>
                <a:latin typeface="Calibri"/>
              </a:defRPr>
            </a:pPr>
            <a:r>
              <a:t>The paper used: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Street-level photos</a:t>
            </a:r>
          </a:p>
          <a:p>
            <a:pPr>
              <a:spcAft>
                <a:spcPts val="6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AI to count pixels of trees, cars, signs</a:t>
            </a:r>
          </a:p>
          <a:p>
            <a:pPr>
              <a:spcAft>
                <a:spcPts val="600"/>
              </a:spcAft>
              <a:defRPr sz="1400">
                <a:solidFill>
                  <a:srgbClr val="7F8C8D"/>
                </a:solidFill>
                <a:latin typeface="Calibri"/>
              </a:defRPr>
            </a:pPr>
            <a:r>
              <a:t>Human raters in VR headsets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We use instead: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Tel Aviv municipal open data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Business registries, complaint logs, demographics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Traffic speed as walkability proxy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A camera sees trees, sidewalks, and cars.</a:t>
            </a:r>
          </a:p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Municipal data sees what the camera can't:</a:t>
            </a:r>
          </a:p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•  Are businesses thriving or closing?</a:t>
            </a:r>
          </a:p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•  Are residents complaining about noise and broken sidewalks?</a:t>
            </a:r>
          </a:p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•  Do women feel safe enough to move into the neighborhood?</a:t>
            </a:r>
          </a:p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•  Are there cultural events that bring people to the street?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Approach &amp; Datasets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Tel Aviv Open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Traffic Speed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051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24 months of hourly speeds on 2,070 road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051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ArcGIS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Business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08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35,172 businesses with category, licensing, neighborhood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Azure Blob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106 Hotline Complaints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9659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286,657 municipal complaints (noise, infrastructure...)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65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Azure Blob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Closed Streets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2,006 street closures: events, construction, light 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Azure Blob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Population &amp;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803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Age, gender, neighborhood breakdown (2010–2022)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80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CBS/Municipal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Dwelling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337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Residential vs. commercial unit counts by neighborhood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337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Municipal 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Socio-Economic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794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18 indicators per neighborhood (income, cars, education)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794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Municipal Excel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Construction Starts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2519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Building starts/completions by district (2020–2022)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251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CBS 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Total: 35 raw files  |  255 MB  |  1.3M+ records  |  All freely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554480" cy="20116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Download</a:t>
            </a:r>
          </a:p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&amp; Clean</a:t>
            </a:r>
          </a:p>
          <a:p>
            <a:pPr algn="ctr">
              <a:spcBef>
                <a:spcPts val="1000"/>
              </a:spcBef>
              <a:defRPr sz="1000" b="0">
                <a:solidFill>
                  <a:srgbClr val="7F8C8D"/>
                </a:solidFill>
                <a:latin typeface="Calibri"/>
              </a:defRPr>
            </a:pPr>
            <a:r>
              <a:t>8 data sources</a:t>
            </a:r>
          </a:p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35 files</a:t>
            </a:r>
          </a:p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UTF-8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1463040"/>
            <a:ext cx="1554480" cy="20116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Spatial</a:t>
            </a:r>
          </a:p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Database</a:t>
            </a:r>
          </a:p>
          <a:p>
            <a:pPr algn="ctr">
              <a:spcBef>
                <a:spcPts val="1000"/>
              </a:spcBef>
              <a:defRPr sz="1000" b="0">
                <a:solidFill>
                  <a:srgbClr val="7F8C8D"/>
                </a:solidFill>
                <a:latin typeface="Calibri"/>
              </a:defRPr>
            </a:pPr>
            <a:r>
              <a:t>GeoPackage</a:t>
            </a:r>
          </a:p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16 layers</a:t>
            </a:r>
          </a:p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71 neighborhoods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0168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463040"/>
            <a:ext cx="1554480" cy="20116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Feature</a:t>
            </a:r>
          </a:p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Engineering</a:t>
            </a:r>
          </a:p>
          <a:p>
            <a:pPr algn="ctr">
              <a:spcBef>
                <a:spcPts val="1000"/>
              </a:spcBef>
              <a:defRPr sz="1000" b="0">
                <a:solidFill>
                  <a:srgbClr val="7F8C8D"/>
                </a:solidFill>
                <a:latin typeface="Calibri"/>
              </a:defRPr>
            </a:pPr>
            <a:r>
              <a:t>27 features</a:t>
            </a:r>
          </a:p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per segment</a:t>
            </a:r>
          </a:p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5 join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59" y="1463040"/>
            <a:ext cx="1554480" cy="20116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Modeling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&amp; PCA</a:t>
            </a:r>
          </a:p>
          <a:p>
            <a:pPr algn="ctr">
              <a:spcBef>
                <a:spcPts val="10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Linear, RF, NN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Permutation imp.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7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63040"/>
            <a:ext cx="1554480" cy="20116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Validation</a:t>
            </a:r>
          </a:p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&amp; Maps</a:t>
            </a:r>
          </a:p>
          <a:p>
            <a:pPr algn="ctr">
              <a:spcBef>
                <a:spcPts val="1000"/>
              </a:spcBef>
              <a:defRPr sz="1000" b="0">
                <a:solidFill>
                  <a:srgbClr val="7F8C8D"/>
                </a:solidFill>
                <a:latin typeface="Calibri"/>
              </a:defRPr>
            </a:pPr>
            <a:r>
              <a:t>Paper comparison</a:t>
            </a:r>
          </a:p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Interactive map</a:t>
            </a:r>
          </a:p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Unit of analysis: directed traffic segment (~100m of street)</a:t>
            </a:r>
          </a:p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Outcome variable: average traffic speed (proxy for walkability)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Features of Interest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27 Features Across 8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Traffic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avg speed, peak-hour drop, speed variance, directional differential, evening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Business (5)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restaurant count, total businesses, diversity index, licensed ratio, evening business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Street Events 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event frequency, event diversity, light rail closures, parade routes, infrastructure closures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Complaints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noise complaints, infrastructure complaints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5400"/>
                </a:solidFill>
                <a:latin typeface="Calibri"/>
              </a:defRPr>
            </a:pPr>
            <a:r>
              <a:t>Construction (2)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8346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building starts, completion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34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7A7"/>
                </a:solidFill>
                <a:latin typeface="Calibri"/>
              </a:defRPr>
            </a:pPr>
            <a:r>
              <a:t>Demographics 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female population growth, young adult share (20-34), elderly share (65+)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5548"/>
                </a:solidFill>
                <a:latin typeface="Calibri"/>
              </a:defRPr>
            </a:pPr>
            <a:r>
              <a:t>Housing (2)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residential density, commercial-to-residential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t>Socio-Economic (3)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SES cluster, cars per 100 residents, avg monthly income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Coverage: 82–100% across all features  |  Joined via spatial + code-based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Four Phases, Eight Weeks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920240" cy="2743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3E50"/>
                </a:solidFill>
                <a:latin typeface="Calibri"/>
              </a:defRPr>
            </a:pPr>
            <a:r>
              <a:t>Data Collection</a:t>
            </a:r>
          </a:p>
          <a:p>
            <a:pPr algn="ctr">
              <a:defRPr sz="1500" b="1">
                <a:solidFill>
                  <a:srgbClr val="2C3E50"/>
                </a:solidFill>
                <a:latin typeface="Calibri"/>
              </a:defRPr>
            </a:pPr>
            <a:r>
              <a:t>&amp;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Weeks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Download, clean, and store</a:t>
            </a:r>
          </a:p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all datasets in a spatial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280160"/>
            <a:ext cx="1920240" cy="2743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3E50"/>
                </a:solidFill>
                <a:latin typeface="Calibri"/>
              </a:defRPr>
            </a:pPr>
            <a:r>
              <a:t>Feature</a:t>
            </a:r>
          </a:p>
          <a:p>
            <a:pPr algn="ctr">
              <a:defRPr sz="1500" b="1">
                <a:solidFill>
                  <a:srgbClr val="2C3E50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Weeks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Compute 27 features per</a:t>
            </a:r>
          </a:p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street segment from raw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280160"/>
            <a:ext cx="1920240" cy="2743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3E50"/>
                </a:solidFill>
                <a:latin typeface="Calibri"/>
              </a:defRPr>
            </a:pPr>
            <a:r>
              <a:t>Analysis &amp;</a:t>
            </a:r>
          </a:p>
          <a:p>
            <a:pPr algn="ctr">
              <a:defRPr sz="1500" b="1">
                <a:solidFill>
                  <a:srgbClr val="2C3E50"/>
                </a:solidFill>
                <a:latin typeface="Calibri"/>
              </a:defRPr>
            </a:pPr>
            <a:r>
              <a:t>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Weeks 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Regression, PCA, walkability</a:t>
            </a:r>
          </a:p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scoring and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7AE6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7999" y="1280160"/>
            <a:ext cx="1920240" cy="27432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39" y="1371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C3E50"/>
                </a:solidFill>
                <a:latin typeface="Calibri"/>
              </a:defRPr>
            </a:pPr>
            <a:r>
              <a:t>Validation &amp;</a:t>
            </a:r>
          </a:p>
          <a:p>
            <a:pPr algn="ctr">
              <a:defRPr sz="1500" b="1">
                <a:solidFill>
                  <a:srgbClr val="2C3E50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Weeks 7–8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26517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Compare with paper, generate</a:t>
            </a:r>
          </a:p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recommendations and deliverables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Tech stack: Python, GeoPandas, statsmodels, scikit-learn, Folium  |  Storage: GeoPackage (243 MB)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Details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Phase 1: Data Collection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Downloaded 24 monthly traffic layers from ArcGIS REST API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with pagination (2,000 records/request)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Downloaded 10 CSV datasets, handling 3 different encodings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(UTF-16LE, Windows-1255, UTF-8) and 4 different delimiters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Normalized all column names: Hebrew → English snake_case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Built GeoPackage spatial database with 16 layers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Downloaded 71 neighborhood boundary polygons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for spatial joins in later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54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35 raw files (255 MB)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50,947 traffic segments (24 months)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1.3M+ records across all datasets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smarttraffic.gpkg (243 MB, 16 layers)</a:t>
            </a:r>
          </a:p>
        </p:txBody>
      </p:sp>
      <p:pic>
        <p:nvPicPr>
          <p:cNvPr id="7" name="Picture 6" descr="traffic_segment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926080"/>
            <a:ext cx="2560320" cy="33270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Phase 2: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Spatial join: segment centroids → neighborhood polygons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(99.6% matched, using projected CRS for accuracy)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5 traffic features computed directly from hourly speed columns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5 business features via neighborhood_code join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(Shannon entropy for diversity, license ratio, evening count)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5 street event features via street_code join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(event frequency, light rail, parade routes)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Complaint, construction, demographic, housing, SES features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aggregated at neighborhood level with name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544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2,070 segments × 27 features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Coverage: 82–100% per feature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'features' layer in GeoPackage</a:t>
            </a:r>
          </a:p>
        </p:txBody>
      </p:sp>
      <p:pic>
        <p:nvPicPr>
          <p:cNvPr id="7" name="Picture 6" descr="featur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743200"/>
            <a:ext cx="3474720" cy="34077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Phase 3: Analysis &amp;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Explored distributions, correlations, and VIF across 27 features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Found strong multicollinearity: restaurant ≈ evening businesses,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SES cluster ≈ income, noise ≈ infrastructure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Three modeling approaches (5-fold CV):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Linear Reg.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Stepwise, 17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971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R² = 0.330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55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Neural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2 layers (64-32), early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355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R² = 0.437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39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398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300 trees, leaf=5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7398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R² = 0.489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PCA walkability composite score (0–100):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PC1 captures 26% of variance across 24 features</a:t>
            </a:r>
          </a:p>
        </p:txBody>
      </p:sp>
      <p:pic>
        <p:nvPicPr>
          <p:cNvPr id="16" name="Picture 15" descr="02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3657600" cy="32912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Phase 4: Validation &amp;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Permutation feature importance: restaurant_count,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cars_per_100_residents, and ses_cluster dominate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Mapped all features to the paper's 6 VWP categories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to compare our findings against visual-feature results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PCA walkability composite score (0–100 scale):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PC1 explains 26% of variance across 24 features</a:t>
            </a:r>
          </a:p>
          <a:p>
            <a:pPr>
              <a:spcAft>
                <a:spcPts val="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Built interactive Folium map with click-to-inspect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walkability scores for each street segment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Generated policy recommendations for low-scoring areas</a:t>
            </a:r>
          </a:p>
        </p:txBody>
      </p:sp>
      <p:pic>
        <p:nvPicPr>
          <p:cNvPr id="5" name="Picture 4" descr="07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931920" cy="31428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The Dataset: 1,278 Segments × 26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2,070 segments reduced to 1,278 after dropping rows with missing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What one row looks like — three example segments: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03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Rothschild Blvd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(high walkability)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103120"/>
            <a:ext cx="201168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Rothschild Blvd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(high walkability)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Ben Tzvi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(mid)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103120"/>
            <a:ext cx="164592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Ben Tzvi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(mid)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Yerushalayim St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(low walkability)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03120"/>
            <a:ext cx="201168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Yerushalayim St</a:t>
            </a:r>
          </a:p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(low walkability)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228600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Neighborhood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606040"/>
            <a:ext cx="201168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Lev Tel-Aviv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606040"/>
            <a:ext cx="164592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Machon Yaffo TLV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606040"/>
            <a:ext cx="201168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Yaffo G + Neve Golan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avg_speed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880360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11.6 km/h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880360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13.0 km/h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880360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17.3 km/h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54680"/>
            <a:ext cx="228600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restaurant_count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154680"/>
            <a:ext cx="201168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635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154680"/>
            <a:ext cx="164592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154680"/>
            <a:ext cx="201168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total_businesses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429000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4,806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429000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251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429000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03320"/>
            <a:ext cx="228600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ses_cluster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703320"/>
            <a:ext cx="201168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703320"/>
            <a:ext cx="164592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703320"/>
            <a:ext cx="201168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77639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cars_per_100_residents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977639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977639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977639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51960"/>
            <a:ext cx="228600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noise_complaints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4251960"/>
            <a:ext cx="201168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5,270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251960"/>
            <a:ext cx="164592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485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251960"/>
            <a:ext cx="2011680" cy="274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760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26280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C3E50"/>
                </a:solidFill>
                <a:latin typeface="Calibri"/>
              </a:defRPr>
            </a:pPr>
            <a:r>
              <a:t>speed_variance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4526280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1.3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4526280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4.1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526280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Walkable streets: slow traffic, many restaurants, high SES.  Non-walkable: faster traffic, few businesses, low SES.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Municipal Data Captures Walkability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t>Municipal features alone explain more traffic speed variance</a:t>
            </a:r>
          </a:p>
          <a:p>
            <a:pPr algn="l">
              <a:defRPr sz="1800" b="0">
                <a:solidFill>
                  <a:srgbClr val="2C3E50"/>
                </a:solidFill>
                <a:latin typeface="Calibri"/>
              </a:defRPr>
            </a:pPr>
            <a:r>
              <a:t>than the traffic's own temporal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Combined model (traffic + municipal): Adj-R² = 0.354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Top 5 most important features: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1.  Restaurant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— street-level vitality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2.  Cars per 100 residents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456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— car dependency = less walkable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039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3.  SES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039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— wealthier areas have better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4.  Noise complaints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513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— direct pedestrian discomfort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5.  Total businesses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498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— mixed-use streets attract walking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Tel Aviv Walkability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walka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029200" cy="30636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Most walkable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5544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Rothschild Blvd (100/100)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Old North — south part (73)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Old North — north part (62)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Montefiori (48)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Least walkable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32004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Neve Dan (3/100)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Rabiviim (5)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Ramat HaChayal (9)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Neot Afeka 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Pattern: central mixed-use → high;</a:t>
            </a:r>
          </a:p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peripheral residential → low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How Our Findings Compare to the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Comfort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Paper: car/truck pixels (–)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Ours: cars per 100 residents, noise complaints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Strong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Pleasurability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Paper: person/bicycle pixels (+)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Ours: restaurants, events, young adults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Strong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260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Paper: vegetation (+), truck (–)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Ours: female pop growth, evening businesses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Novel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40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Paper: sidewalk (+), fence (–)</a:t>
            </a:r>
          </a:p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Ours: infrastructure complaints,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Good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Novel: female population growth as safety proxy has no visual equivalent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Neighborhood Walkability 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neighborhood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754880" cy="3955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Key observations: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4592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Clear north-south SES gradient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matches walkability scores</a:t>
            </a:r>
          </a:p>
          <a:p>
            <a:pPr>
              <a:spcAft>
                <a:spcPts val="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Central mixed-use neighborhoods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(Lev TLV, Old North) score highest</a:t>
            </a:r>
          </a:p>
          <a:p>
            <a:pPr>
              <a:spcAft>
                <a:spcPts val="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Car-dependent northern suburbs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(Rabiviim, Neve Dan) score lowest</a:t>
            </a:r>
          </a:p>
          <a:p>
            <a:pPr>
              <a:spcAft>
                <a:spcPts val="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Low-scoring areas share a pattern:</a:t>
            </a:r>
          </a:p>
          <a:p>
            <a:pPr>
              <a:spcAft>
                <a:spcPts val="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few restaurants, low events,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high car ownership</a:t>
            </a:r>
          </a:p>
          <a:p>
            <a:pPr>
              <a:spcAft>
                <a:spcPts val="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Jaffa neighborhoods are mid-range—</a:t>
            </a:r>
          </a:p>
          <a:p>
            <a:pPr>
              <a:spcAft>
                <a:spcPts val="4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high vitality but also high complaints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Three Models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Random Forest (R²=0.489) &gt; Neural Network (0.437) &gt; Linear Regression (0.330)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Neural net improves over linear (+32%) but is unstable with only 1,278 samples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Random Forest wins: best accuracy, most stable, no tuning needed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Feature Importance Shifts Between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feature_import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77824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Linear Regression: municipal features dominate (restaurant count, cars, SES)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Random Forest: traffic features rise to top (speed variance, directional diff)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Both agree: business count and speed patterns are key predictors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TLV Walkability Index — Weighted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Walkability  =  Σ ( wᵢ  ×  signᵢ  ×  z_scoreᵢ ),  normalized to 0–100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377440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600200"/>
            <a:ext cx="548640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00200"/>
            <a:ext cx="731520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00200"/>
            <a:ext cx="4389120" cy="29260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92807"/>
            <a:ext cx="23774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restaurant_count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892807"/>
            <a:ext cx="5486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892807"/>
            <a:ext cx="7315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892807"/>
            <a:ext cx="43891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More restaurants = more street vitality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57984"/>
            <a:ext cx="23774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cars_per_100_residents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157984"/>
            <a:ext cx="5486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57984"/>
            <a:ext cx="7315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157984"/>
            <a:ext cx="4389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Car dependency = less walkable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23774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ses_cluster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423160"/>
            <a:ext cx="5486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423160"/>
            <a:ext cx="7315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423160"/>
            <a:ext cx="43891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Higher SES = better infrastructure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88335"/>
            <a:ext cx="23774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noise_complaints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688335"/>
            <a:ext cx="5486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688335"/>
            <a:ext cx="7315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688335"/>
            <a:ext cx="4389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Noise = pedestrian discomfort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53511"/>
            <a:ext cx="23774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total_businesses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953511"/>
            <a:ext cx="5486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953511"/>
            <a:ext cx="7315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2953511"/>
            <a:ext cx="43891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Mixed-use streets attract walking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18687"/>
            <a:ext cx="23774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elderly_share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218687"/>
            <a:ext cx="5486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218687"/>
            <a:ext cx="7315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3218687"/>
            <a:ext cx="4389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Higher elderly share = less active streets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83863"/>
            <a:ext cx="23774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speed_variance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483863"/>
            <a:ext cx="5486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483863"/>
            <a:ext cx="7315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483863"/>
            <a:ext cx="43891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Unstable traffic = less safe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49039"/>
            <a:ext cx="23774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dir_speed_diff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749039"/>
            <a:ext cx="5486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749039"/>
            <a:ext cx="7315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749039"/>
            <a:ext cx="4389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Asymmetric flow = bottleneck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014215"/>
            <a:ext cx="23774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young_adult_share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4014215"/>
            <a:ext cx="54864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4014215"/>
            <a:ext cx="7315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4014215"/>
            <a:ext cx="4389120" cy="2651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Young adults prefer walkable areas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79392"/>
            <a:ext cx="23774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female_pop_growth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279392"/>
            <a:ext cx="5486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4279392"/>
            <a:ext cx="7315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0.01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279392"/>
            <a:ext cx="4389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Women move to safe neighborhoods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445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Weights derived from permutation importance of linear regression  |  Correlation with PCA score: r = 0.950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Appendix: Feature Details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Traffic Features (5) + Business Features (5)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56032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9728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Source /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20624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What It Captures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17319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avg_speed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19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Hourly speed 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17319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Mean of 15 hourly speeds (6am-8pm)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719072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peak_speed_drop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19072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Hourly speed cols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719072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Ratio: 8am speed / 6am speed (rush impact)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20824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speed_variance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20824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Hourly speed cols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020824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Variance across 15 hours (stability)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322576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dir_speed_diff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322576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Both directions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322576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|speed dir A - speed dir B| (asymmetry)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624328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evening_speed_recovery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624328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Hourly speed cols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624328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Ratio: 7pm speed / 5pm speed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926080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restaurant_count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926080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Businesses / nh_code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926080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Food &amp; hospitality businesses per neighborhood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227832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total_businesses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227832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Businesses / nh_code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227832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All registered businesses per neighborhood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29584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biz_diversity_index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529584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Businesses / nh_code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529584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Shannon entropy of business categories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31335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licensed_biz_ratio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831335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Businesses / nh_code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831335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Fraction requiring a license (formality)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133087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evening_biz_count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133087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Businesses / nh_code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133087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Restaurants + entertainment (nightlife)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Street Events (5) + Complaints (2) + Construction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56032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9728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Source /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20624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What It Captures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17319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event_frequency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19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Closed streets / street_code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17319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Number of event-type closures on this street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719072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event_diversity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19072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Closed streets / street_code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719072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Distinct event types on this street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20824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light_rail_closures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20824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Closed streets / street_code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020824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Light rail construction closures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322576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parade_route_count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322576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Closed streets / street_code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322576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Marathon / parade route closures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624328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infra_closure_count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624328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Closed streets / street_code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624328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Infrastructure work closures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926080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noise_complaints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926080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Hotline 106 / nh_code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926080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Noise-related complaints per neighborhood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227832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infra_complaints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227832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Hotline 106 / nh_code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227832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Sidewalk/road/lighting complaints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29584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construction_starts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529584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CBS / sub_district→nh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529584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Building starts (latest year)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31335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construction_completion_rate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831335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CBS / sub_district→nh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831335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Completions / starts ratio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Demographics (3) + Housing (2) + Socio-Economic (3)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56032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97280"/>
            <a:ext cx="201168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Source /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20624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What It Captures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17319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female_pop_growth_yoy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19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Population / name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17319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Year-over-year female population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719072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young_adult_share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719072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Population / name 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719072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% of population aged 20-34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20824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elderly_share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020824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Population / name 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020824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% of population aged 65+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322576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residential_density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322576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Dwelling / nh_code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322576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Dwelling units per billed area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624328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commercial_to_residential_ratio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624328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Dwelling / nh_code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624328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Commercial units / residential units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926080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ses_cluster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926080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SES / name + manual 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926080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Socio-economic cluster (1-10)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227832"/>
            <a:ext cx="256032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cars_per_100_residents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227832"/>
            <a:ext cx="201168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SES / name + manual 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227832"/>
            <a:ext cx="4206240" cy="3017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Car ownership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29584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avg_monthly_income_per_capita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529584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SES / name + manual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529584"/>
            <a:ext cx="4206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Average monthly income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AE60"/>
                </a:solidFill>
                <a:latin typeface="Calibri"/>
              </a:defRPr>
            </a:pPr>
            <a:r>
              <a:t>A city's own data — business registries, complaint logs,</a:t>
            </a:r>
          </a:p>
          <a:p>
            <a:pPr algn="l">
              <a:defRPr sz="2000" b="0">
                <a:solidFill>
                  <a:srgbClr val="27AE60"/>
                </a:solidFill>
                <a:latin typeface="Calibri"/>
              </a:defRPr>
            </a:pPr>
            <a:r>
              <a:t>demographics — reveals how walkable its streets feel,</a:t>
            </a:r>
          </a:p>
          <a:p>
            <a:pPr algn="l">
              <a:defRPr sz="2000" b="0">
                <a:solidFill>
                  <a:srgbClr val="27AE60"/>
                </a:solidFill>
                <a:latin typeface="Calibri"/>
              </a:defRPr>
            </a:pPr>
            <a:r>
              <a:t>capturing dimensions that even street-level photos miss.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 cameras needed. No surveys. Just open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